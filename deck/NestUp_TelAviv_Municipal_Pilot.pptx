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here. Don't rush this slide.</a:t>
            </a:r>
          </a:p>
          <a:p/>
          <a:p>
            <a:r>
              <a:t>"Tel Aviv has spent decades building extraordinary public space for families.</a:t>
            </a:r>
          </a:p>
          <a:p>
            <a:r>
              <a:t>Playgrounds, libraries, parks, community centres, story hours. The infrastructure</a:t>
            </a:r>
          </a:p>
          <a:p>
            <a:r>
              <a:t>is world class.</a:t>
            </a:r>
          </a:p>
          <a:p/>
          <a:p>
            <a:r>
              <a:t>What the city cannot build with concrete is the thing that makes a neighbourhood</a:t>
            </a:r>
          </a:p>
          <a:p>
            <a:r>
              <a:t>feel like home — knowing the other parents in it.</a:t>
            </a:r>
          </a:p>
          <a:p/>
          <a:p>
            <a:r>
              <a:t>That's the gap we'd like to close with you."</a:t>
            </a:r>
          </a:p>
          <a:p/>
          <a:p>
            <a:r>
              <a:t>Set expectation: 15 minutes, then discussion. We're asking for a pilot, not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down. Let it sit for a beat before speaking.</a:t>
            </a:r>
          </a:p>
          <a:p/>
          <a:p>
            <a:r>
              <a:t>"This is the part of city life nobody plans for. Density does not produce</a:t>
            </a:r>
          </a:p>
          <a:p>
            <a:r>
              <a:t>community. You can be surrounded and still be alone."</a:t>
            </a:r>
          </a:p>
          <a:p/>
          <a:p>
            <a:r>
              <a:t>Do not add statistics here. The line works because it is recognisable, and every</a:t>
            </a:r>
          </a:p>
          <a:p>
            <a:r>
              <a:t>person in the room has either lived it or watched their children live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"Ask any new parent how far they travel in a normal day. It's about 500 metres.</a:t>
            </a:r>
          </a:p>
          <a:p/>
          <a:p>
            <a:r>
              <a:t>Inside that circle there are dozens of families on exactly the same schedule,</a:t>
            </a:r>
          </a:p>
          <a:p>
            <a:r>
              <a:t>with exactly the same questions, at exactly the same playground. They are</a:t>
            </a:r>
          </a:p>
          <a:p>
            <a:r>
              <a:t>strangers to each other — not because they want to be, but because there is no</a:t>
            </a:r>
          </a:p>
          <a:p>
            <a:r>
              <a:t>natural way to meet."</a:t>
            </a:r>
          </a:p>
          <a:p/>
          <a:p>
            <a:r>
              <a:t>This is the slide where the room starts nodding. Pause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right, one line each. Don't linger.</a:t>
            </a:r>
          </a:p>
          <a:p/>
          <a:p>
            <a:r>
              <a:t>"None of these are bad products. They're just not built for this job.</a:t>
            </a:r>
          </a:p>
          <a:p/>
          <a:p>
            <a:r>
              <a:t>The common failure is the same: they all assume you already have a network.</a:t>
            </a:r>
          </a:p>
          <a:p>
            <a:r>
              <a:t>WhatsApp needs an inviter. Facebook needs you to find the right group.</a:t>
            </a:r>
          </a:p>
          <a:p>
            <a:r>
              <a:t>Municipal listings assume you went looking. Word of mouth assumes you have</a:t>
            </a:r>
          </a:p>
          <a:p>
            <a:r>
              <a:t>someone to hear it from.</a:t>
            </a:r>
          </a:p>
          <a:p/>
          <a:p>
            <a:r>
              <a:t>The families who need community most — new arrivals, first-time parents, people</a:t>
            </a:r>
          </a:p>
          <a:p>
            <a:r>
              <a:t>who just moved neighbourhood — are exactly the ones these channels fail."</a:t>
            </a:r>
          </a:p>
          <a:p/>
          <a:p>
            <a:r>
              <a:t>If a Head of Community is present, this is where they will agree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 of the deck. Say it plainly and stop.</a:t>
            </a:r>
          </a:p>
          <a:p/>
          <a:p>
            <a:r>
              <a:t>"Every city instinct is to publish more — another listing, another portal,</a:t>
            </a:r>
          </a:p>
          <a:p>
            <a:r>
              <a:t>another newsletter. But the shortage was never information.</a:t>
            </a:r>
          </a:p>
          <a:p/>
          <a:p>
            <a:r>
              <a:t>A parent doesn't want a directory of story hours. They want to know that Dana</a:t>
            </a:r>
          </a:p>
          <a:p>
            <a:r>
              <a:t>from two streets away will be at the one on Tuesday."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look at the product. Hold it up, literally, if you have a device.</a:t>
            </a:r>
          </a:p>
          <a:p/>
          <a:p>
            <a:r>
              <a:t>"This is the whole idea in one screen. One map. Three kinds of thing on it.</a:t>
            </a:r>
          </a:p>
          <a:p/>
          <a:p>
            <a:r>
              <a:t>Round markers are activities a parent created. Squares are places the city has</a:t>
            </a:r>
          </a:p>
          <a:p>
            <a:r>
              <a:t>verified as family-ready. Diamonds are municipal events.</a:t>
            </a:r>
          </a:p>
          <a:p/>
          <a:p>
            <a:r>
              <a:t>A parent doesn't have to know which category they want. They just look at what's</a:t>
            </a:r>
          </a:p>
          <a:p>
            <a:r>
              <a:t>near them."</a:t>
            </a:r>
          </a:p>
          <a:p/>
          <a:p>
            <a:r>
              <a:t>Note the mixed list below the map — an activity and a place, side by side.</a:t>
            </a:r>
          </a:p>
          <a:p>
            <a:r>
              <a:t>That's deliberate. Real life isn't organised into tabs.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"Three layers, and here's the part that matters for this conversation:</a:t>
            </a:r>
          </a:p>
          <a:p/>
          <a:p>
            <a:r>
              <a:t>The municipality already supplies two of them.</a:t>
            </a:r>
          </a:p>
          <a:p/>
          <a:p>
            <a:r>
              <a:t>You have the places — 44 of them are already verified and live in the product for</a:t>
            </a:r>
          </a:p>
          <a:p>
            <a:r>
              <a:t>Tel Aviv. You run the events. What's been missing is the third layer: the parents</a:t>
            </a:r>
          </a:p>
          <a:p>
            <a:r>
              <a:t>themselves, and a reason for them to show up at the same time.</a:t>
            </a:r>
          </a:p>
          <a:p/>
          <a:p>
            <a:r>
              <a:t>NestUp doesn't replace anything the city does. It's the connective tissue between</a:t>
            </a:r>
          </a:p>
          <a:p>
            <a:r>
              <a:t>what you already provide and the families who should be using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"This is a real municipal event — a story hour at Beit Ariela — inside NestUp.</a:t>
            </a:r>
          </a:p>
          <a:p/>
          <a:p>
            <a:r>
              <a:t>Look at what's been added. Not a better description. Not a nicer photo.</a:t>
            </a:r>
          </a:p>
          <a:p>
            <a:r>
              <a:t>Seven other parents who said they're going.</a:t>
            </a:r>
          </a:p>
          <a:p/>
          <a:p>
            <a:r>
              <a:t>That single line changes the decision. 'Should I take my toddler across town to a</a:t>
            </a:r>
          </a:p>
          <a:p>
            <a:r>
              <a:t>library event?' is a hard question. 'Should I go to the thing seven other parents</a:t>
            </a:r>
          </a:p>
          <a:p>
            <a:r>
              <a:t>from my area are going to?' is an easy one."</a:t>
            </a:r>
          </a:p>
          <a:p/>
          <a:p>
            <a:r>
              <a:t>Point at the disclaimer under the button — this is important and we'll come back</a:t>
            </a:r>
          </a:p>
          <a:p>
            <a:r>
              <a:t>to it on the trust slide. NestUp attendance is never presented as registration</a:t>
            </a:r>
          </a:p>
          <a:p>
            <a:r>
              <a:t>with the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beats, quickly.</a:t>
            </a:r>
          </a:p>
          <a:p/>
          <a:p>
            <a:r>
              <a:t>Land hard on step four and the green bar.</a:t>
            </a:r>
          </a:p>
          <a:p/>
          <a:p>
            <a:r>
              <a:t>"I want to be explicit about something, because it matters to a municipality.</a:t>
            </a:r>
          </a:p>
          <a:p/>
          <a:p>
            <a:r>
              <a:t>We are not building an engagement product. We do not want your residents spending</a:t>
            </a:r>
          </a:p>
          <a:p>
            <a:r>
              <a:t>more time on their phones. Every mechanic in NestUp is designed to end with people</a:t>
            </a:r>
          </a:p>
          <a:p>
            <a:r>
              <a:t>in physical public space — the space you already paid for.</a:t>
            </a:r>
          </a:p>
          <a:p/>
          <a:p>
            <a:r>
              <a:t>If our usage numbers went up while park attendance stayed flat, we would consider</a:t>
            </a:r>
          </a:p>
          <a:p>
            <a:r>
              <a:t>the pilot a failure."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 meetup is a moment. A community is what happens between moments.</a:t>
            </a:r>
          </a:p>
          <a:p/>
          <a:p>
            <a:r>
              <a:t>Twelve forums, curated by us, not user-generated — which means no empty rooms, no</a:t>
            </a:r>
          </a:p>
          <a:p>
            <a:r>
              <a:t>duplicates, no moderation crisis on day one. A parent awake at 3am with a sleep</a:t>
            </a:r>
          </a:p>
          <a:p>
            <a:r>
              <a:t>question has somewhere to go, and it's full of people from their own city.</a:t>
            </a:r>
          </a:p>
          <a:p/>
          <a:p>
            <a:r>
              <a:t>All of it works in Hebrew and English, right-to-left included."</a:t>
            </a:r>
          </a:p>
          <a:p/>
          <a:p>
            <a:r>
              <a:t>If asked why users can't create forums: deliberate for the pilot. Twelve good</a:t>
            </a:r>
          </a:p>
          <a:p>
            <a:r>
              <a:t>rooms beat two hundred empty ones, and it keeps moderation tractable.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 slide with a municipal audience. It is the one that gets you</a:t>
            </a:r>
          </a:p>
          <a:p>
            <a:r>
              <a:t>past legal.</a:t>
            </a:r>
          </a:p>
          <a:p/>
          <a:p>
            <a:r>
              <a:t>"Parent safety shaped the data model, not the marketing.</a:t>
            </a:r>
          </a:p>
          <a:p/>
          <a:p>
            <a:r>
              <a:t>Children's exact birthdates never leave the database — ages are coarsened before</a:t>
            </a:r>
          </a:p>
          <a:p>
            <a:r>
              <a:t>they're sent to a device. Exact coordinates are never public. Parent role is</a:t>
            </a:r>
          </a:p>
          <a:p>
            <a:r>
              <a:t>self-selected; we never infer it from a name or a photo.</a:t>
            </a:r>
          </a:p>
          <a:p/>
          <a:p>
            <a:r>
              <a:t>There are no ratings, no trust scores, no verification badges pretending to be</a:t>
            </a:r>
          </a:p>
          <a:p>
            <a:r>
              <a:t>something they aren't. We'd rather show less and be honest about it."</a:t>
            </a:r>
          </a:p>
          <a:p/>
          <a:p>
            <a:r>
              <a:t>If asked about identity verification: deliberately deferred. We didn't want to</a:t>
            </a:r>
          </a:p>
          <a:p>
            <a:r>
              <a:t>ship a badge that implies a guarantee we can't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the CEO and Head of Innovation are waiting for. Slow down.</a:t>
            </a:r>
          </a:p>
          <a:p/>
          <a:p>
            <a:r>
              <a:t>Isolation — you have mental-health and family-wellbeing objectives already. This</a:t>
            </a:r>
          </a:p>
          <a:p>
            <a:r>
              <a:t>is a lever for them that costs almost nothing.</a:t>
            </a:r>
          </a:p>
          <a:p/>
          <a:p>
            <a:r>
              <a:t>Utilisation — you've built the parks and you fund the programmes. Attendance is</a:t>
            </a:r>
          </a:p>
          <a:p>
            <a:r>
              <a:t>the return on that investment, and it is currently left to chance.</a:t>
            </a:r>
          </a:p>
          <a:p/>
          <a:p>
            <a:r>
              <a:t>Belonging — the strongest predictor of whether a family stays in a neighbourhood</a:t>
            </a:r>
          </a:p>
          <a:p>
            <a:r>
              <a:t>is whether they know anyone in it.</a:t>
            </a:r>
          </a:p>
          <a:p/>
          <a:p>
            <a:r>
              <a:t>Insight — and be careful here — aggregated and anonymised. Where families gather,</a:t>
            </a:r>
          </a:p>
          <a:p>
            <a:r>
              <a:t>where they don't, which areas have thin provision. Never individual movement data.</a:t>
            </a:r>
          </a:p>
          <a:p>
            <a:r>
              <a:t>We will put that in writing.</a:t>
            </a:r>
          </a:p>
          <a:p/>
          <a:p>
            <a:r>
              <a:t>Then the closing line: the city doesn't build or run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 want to be precise about what we are and aren't asking for.</a:t>
            </a:r>
          </a:p>
          <a:p/>
          <a:p>
            <a:r>
              <a:t>We are not asking the city to buy, build, host or operate software. There's no new</a:t>
            </a:r>
          </a:p>
          <a:p>
            <a:r>
              <a:t>system for your teams to learn and no data migration.</a:t>
            </a:r>
          </a:p>
          <a:p/>
          <a:p>
            <a:r>
              <a:t>The city keeps doing exactly what it does today. We sit on top and make it findable</a:t>
            </a:r>
          </a:p>
          <a:p>
            <a:r>
              <a:t>and social."</a:t>
            </a:r>
          </a:p>
          <a:p/>
          <a:p>
            <a:r>
              <a:t>If the Head of Innovation asks about integration: the events layer already ingests</a:t>
            </a:r>
          </a:p>
          <a:p>
            <a:r>
              <a:t>municipal event data. Deeper integration is possible but is explicitly not required</a:t>
            </a:r>
          </a:p>
          <a:p>
            <a:r>
              <a:t>for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"We're asking for one neighbourhood, not the city. Six months, not a year.</a:t>
            </a:r>
          </a:p>
          <a:p/>
          <a:p>
            <a:r>
              <a:t>Month one is the most important and the one people skip: we establish a baseline</a:t>
            </a:r>
          </a:p>
          <a:p>
            <a:r>
              <a:t>together, using your data, before we've done anything. Otherwise in month six</a:t>
            </a:r>
          </a:p>
          <a:p>
            <a:r>
              <a:t>we'll both be guessing.</a:t>
            </a:r>
          </a:p>
          <a:p/>
          <a:p>
            <a:r>
              <a:t>Month six has a real stop option in it. If the measures don't move, we'd rather</a:t>
            </a:r>
          </a:p>
          <a:p>
            <a:r>
              <a:t>you end it than renew out of politeness."</a:t>
            </a:r>
          </a:p>
          <a:p/>
          <a:p>
            <a:r>
              <a:t>Suggested first neighbourhood: somewhere with strong existing family provision and</a:t>
            </a:r>
          </a:p>
          <a:p>
            <a:r>
              <a:t>a dense young-family population. Florentin, Neve Tzedek, or Old North. Ask them</a:t>
            </a:r>
          </a:p>
          <a:p>
            <a:r>
              <a:t>which they'd choose — it's a good way to get them designing the pilot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 about the bottom bar. It will earn you more credibility than a slide of</a:t>
            </a:r>
          </a:p>
          <a:p>
            <a:r>
              <a:t>invented projections would.</a:t>
            </a:r>
          </a:p>
          <a:p/>
          <a:p>
            <a:r>
              <a:t>"You'll notice there are no impressive numbers on this slide.</a:t>
            </a:r>
          </a:p>
          <a:p/>
          <a:p>
            <a:r>
              <a:t>That's on purpose. We could have put a forecast up. But any figure we produced</a:t>
            </a:r>
          </a:p>
          <a:p>
            <a:r>
              <a:t>today about Tel Aviv parents would be a guess dressed as evidence, and you'd be</a:t>
            </a:r>
          </a:p>
          <a:p>
            <a:r>
              <a:t>right not to trust it.</a:t>
            </a:r>
          </a:p>
          <a:p/>
          <a:p>
            <a:r>
              <a:t>Every one of these baselines gets set in month one, with your data, before we</a:t>
            </a:r>
          </a:p>
          <a:p>
            <a:r>
              <a:t>start. Then we're both measuring the same thing."</a:t>
            </a:r>
          </a:p>
          <a:p/>
          <a:p>
            <a:r>
              <a:t>If pushed for projections: offer to model them jointly once the baseline exists.</a:t>
            </a:r>
          </a:p>
          <a:p>
            <a:r>
              <a:t>Do not invent a number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"Four reasons, and the last one is the practical one: this isn't a concept.</a:t>
            </a:r>
          </a:p>
          <a:p/>
          <a:p>
            <a:r>
              <a:t>The product is built and running. Hebrew and English, right-to-left. Forty-four</a:t>
            </a:r>
          </a:p>
          <a:p>
            <a:r>
              <a:t>Tel Aviv places already verified and live. It's on TestFlight today.</a:t>
            </a:r>
          </a:p>
          <a:p/>
          <a:p>
            <a:r>
              <a:t>We're not asking you to fund development. We're asking you to be the first city to</a:t>
            </a:r>
          </a:p>
          <a:p>
            <a:r>
              <a:t>point it at a real neighbourhood."</a:t>
            </a:r>
          </a:p>
          <a:p/>
          <a:p>
            <a:r>
              <a:t>Then the closing line — first-mover framing works well with an innovation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"Four asks, and I want to be clear that none of them is a budget line.</a:t>
            </a:r>
          </a:p>
          <a:p/>
          <a:p>
            <a:r>
              <a:t>A neighbourhood. Introductions to the places parents already go. The event data</a:t>
            </a:r>
          </a:p>
          <a:p>
            <a:r>
              <a:t>you already publish. And one person who owns this with us — that's the one that</a:t>
            </a:r>
          </a:p>
          <a:p>
            <a:r>
              <a:t>actually determines whether a pilot works.</a:t>
            </a:r>
          </a:p>
          <a:p/>
          <a:p>
            <a:r>
              <a:t>We bring the product, the team and the cost."</a:t>
            </a:r>
          </a:p>
          <a:p/>
          <a:p>
            <a:r>
              <a:t>Then stop talking. Let them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slide. Don't add anything to it.</a:t>
            </a:r>
          </a:p>
          <a:p/>
          <a:p>
            <a:r>
              <a:t>"Tel Aviv already built the buildings. The parks, the libraries, the community</a:t>
            </a:r>
          </a:p>
          <a:p>
            <a:r>
              <a:t>centres — they're there, they're good, and they're often half empty on a Tuesday</a:t>
            </a:r>
          </a:p>
          <a:p>
            <a:r>
              <a:t>morning while a hundred parents sit alone within walking distance of them.</a:t>
            </a:r>
          </a:p>
          <a:p/>
          <a:p>
            <a:r>
              <a:t>We'd like to help you fill them. One neighbourhood, six months, and an honest</a:t>
            </a:r>
          </a:p>
          <a:p>
            <a:r>
              <a:t>measurement at the end."</a:t>
            </a:r>
          </a:p>
          <a:p/>
          <a:p>
            <a:r>
              <a:t>Then: "What would you need to see to say yes?"</a:t>
            </a:r>
          </a:p>
          <a:p/>
          <a:p>
            <a:r>
              <a:t>That question, not a summary, is how you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A95F70"/>
                </a:solidFill>
                <a:latin typeface="Plus Jakarta Sans"/>
              </a:rPr>
              <a:t>A PROPOSAL FOR TEL AVIV-YAFO MUNICIPALITY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509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200" b="1">
                <a:solidFill>
                  <a:srgbClr val="2B2B28"/>
                </a:solidFill>
                <a:latin typeface="Plus Jakarta Sans"/>
              </a:rPr>
              <a:t>The city already</a:t>
            </a:r>
          </a:p>
          <a:p>
            <a:pPr algn="l">
              <a:lnSpc>
                <a:spcPct val="106000"/>
              </a:lnSpc>
            </a:pPr>
            <a:r>
              <a:rPr sz="6200" b="1">
                <a:solidFill>
                  <a:srgbClr val="2B2B28"/>
                </a:solidFill>
                <a:latin typeface="Plus Jakarta Sans"/>
              </a:rPr>
              <a:t>built the places.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726F65"/>
                </a:solidFill>
                <a:latin typeface="Plus Jakarta Sans"/>
              </a:rPr>
              <a:t>NestUp helps the families in them</a:t>
            </a:r>
          </a:p>
          <a:p>
            <a:pPr algn="l">
              <a:lnSpc>
                <a:spcPct val="135000"/>
              </a:lnSpc>
            </a:pPr>
            <a:r>
              <a:rPr sz="2700" b="0">
                <a:solidFill>
                  <a:srgbClr val="726F65"/>
                </a:solidFill>
                <a:latin typeface="Plus Jakarta Sans"/>
              </a:rPr>
              <a:t>find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3840480" cy="12700"/>
          </a:xfrm>
          <a:prstGeom prst="rect">
            <a:avLst/>
          </a:prstGeom>
          <a:solidFill>
            <a:srgbClr val="E3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69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368"/>
                </a:solidFill>
                <a:latin typeface="Plus Jakarta Sans"/>
              </a:rPr>
              <a:t>Municipal community pilot  ·  2026</a:t>
            </a:r>
          </a:p>
        </p:txBody>
      </p:sp>
      <p:sp>
        <p:nvSpPr>
          <p:cNvPr id="9" name="Oval 8"/>
          <p:cNvSpPr/>
          <p:nvPr/>
        </p:nvSpPr>
        <p:spPr>
          <a:xfrm>
            <a:off x="10149840" y="2103120"/>
            <a:ext cx="1371600" cy="1371600"/>
          </a:xfrm>
          <a:prstGeom prst="ellipse">
            <a:avLst/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46920" y="3200400"/>
            <a:ext cx="822960" cy="822960"/>
          </a:xfrm>
          <a:prstGeom prst="ellipse">
            <a:avLst/>
          </a:prstGeom>
          <a:solidFill>
            <a:srgbClr val="F1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44200" y="3794760"/>
            <a:ext cx="502920" cy="502920"/>
          </a:xfrm>
          <a:prstGeom prst="ellipse">
            <a:avLst/>
          </a:prstGeom>
          <a:solidFill>
            <a:srgbClr val="F1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4600" b="1">
                <a:solidFill>
                  <a:srgbClr val="FAF8F4"/>
                </a:solidFill>
                <a:latin typeface="Plus Jakarta Sans"/>
              </a:rPr>
              <a:t>You can live on a street with</a:t>
            </a:r>
          </a:p>
          <a:p>
            <a:pPr algn="l">
              <a:lnSpc>
                <a:spcPct val="122000"/>
              </a:lnSpc>
            </a:pPr>
            <a:r>
              <a:rPr sz="4600" b="1">
                <a:solidFill>
                  <a:srgbClr val="FAF8F4"/>
                </a:solidFill>
                <a:latin typeface="Plus Jakarta Sans"/>
              </a:rPr>
              <a:t>four hundred families</a:t>
            </a:r>
          </a:p>
          <a:p>
            <a:pPr algn="l">
              <a:lnSpc>
                <a:spcPct val="122000"/>
              </a:lnSpc>
            </a:pPr>
            <a:r>
              <a:rPr sz="4600" b="1">
                <a:solidFill>
                  <a:srgbClr val="FAF8F4"/>
                </a:solidFill>
                <a:latin typeface="Plus Jakarta Sans"/>
              </a:rPr>
              <a:t>and know none of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5120640"/>
            <a:ext cx="2743200" cy="12700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THE MOMENT IT MATTERS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400" b="1">
                <a:solidFill>
                  <a:srgbClr val="2B2B28"/>
                </a:solidFill>
                <a:latin typeface="Plus Jakarta Sans"/>
              </a:rPr>
              <a:t>When you become</a:t>
            </a:r>
          </a:p>
          <a:p>
            <a:pPr algn="l">
              <a:lnSpc>
                <a:spcPct val="114000"/>
              </a:lnSpc>
            </a:pPr>
            <a:r>
              <a:rPr sz="4400" b="1">
                <a:solidFill>
                  <a:srgbClr val="2B2B28"/>
                </a:solidFill>
                <a:latin typeface="Plus Jakarta Sans"/>
              </a:rPr>
              <a:t>a parent, your city</a:t>
            </a:r>
          </a:p>
          <a:p>
            <a:pPr algn="l">
              <a:lnSpc>
                <a:spcPct val="114000"/>
              </a:lnSpc>
            </a:pPr>
            <a:r>
              <a:rPr sz="4400" b="1">
                <a:solidFill>
                  <a:srgbClr val="2B2B28"/>
                </a:solidFill>
                <a:latin typeface="Plus Jakarta Sans"/>
              </a:rPr>
              <a:t>gets smaller.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700" b="0">
                <a:solidFill>
                  <a:srgbClr val="726F65"/>
                </a:solidFill>
                <a:latin typeface="Plus Jakarta Sans"/>
              </a:rPr>
              <a:t>Your world narrows to the distance you can push a pram. The people you used to see disappear into work and evenings. The park is full of people in exactly your situation — and none of you speak.</a:t>
            </a:r>
          </a:p>
        </p:txBody>
      </p:sp>
      <p:sp>
        <p:nvSpPr>
          <p:cNvPr id="6" name="Oval 5"/>
          <p:cNvSpPr/>
          <p:nvPr/>
        </p:nvSpPr>
        <p:spPr>
          <a:xfrm>
            <a:off x="7223760" y="1554480"/>
            <a:ext cx="3931920" cy="3931920"/>
          </a:xfrm>
          <a:prstGeom prst="ellipse">
            <a:avLst/>
          </a:prstGeom>
          <a:solidFill>
            <a:srgbClr val="F1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63840" y="2194560"/>
            <a:ext cx="2651760" cy="2651760"/>
          </a:xfrm>
          <a:prstGeom prst="ellipse">
            <a:avLst/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9640" y="2880360"/>
            <a:ext cx="1280160" cy="1280160"/>
          </a:xfrm>
          <a:prstGeom prst="ellipse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3264408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500m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500176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767368"/>
                </a:solidFill>
                <a:latin typeface="Plus Jakarta Sans"/>
              </a:rPr>
              <a:t>the pram radius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Everything exists. Nothing connects.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34640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315468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8B4E5D"/>
                </a:solidFill>
                <a:latin typeface="Plus Jakarta Sans"/>
              </a:rPr>
              <a:t>WhatsApp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703320"/>
            <a:ext cx="198424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Invite-only. You have to already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know someone to get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834640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E6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8" y="315468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5C86A0"/>
                </a:solidFill>
                <a:latin typeface="Plus Jakarta Sans"/>
              </a:rPr>
              <a:t>Facebook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8" y="3703320"/>
            <a:ext cx="198424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Noisy, city-wide, and rarely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about your street.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834640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1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315468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6794F"/>
                </a:solidFill>
                <a:latin typeface="Plus Jakarta Sans"/>
              </a:rPr>
              <a:t>Municipal 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3703320"/>
            <a:ext cx="198424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Excellent programmes that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parents never see.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834640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1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315468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F6B55"/>
                </a:solidFill>
                <a:latin typeface="Plus Jakarta Sans"/>
              </a:rPr>
              <a:t>Word of mouth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3703320"/>
            <a:ext cx="198424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Works beautifully — if you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already have a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B2B28"/>
                </a:solidFill>
                <a:latin typeface="Plus Jakarta Sans"/>
              </a:rPr>
              <a:t>Four channels. None of them designed for a parent standing in a park on a Tuesday morning.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Plus Jakarta Sans"/>
              </a:rPr>
              <a:t>Parents don't need</a:t>
            </a:r>
          </a:p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Plus Jakarta Sans"/>
              </a:rPr>
              <a:t>more information.</a:t>
            </a:r>
          </a:p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Plus Jakarta Sans"/>
              </a:rPr>
              <a:t>They need each other.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5074920"/>
            <a:ext cx="2743200" cy="12700"/>
          </a:xfrm>
          <a:prstGeom prst="rect">
            <a:avLst/>
          </a:prstGeom>
          <a:solidFill>
            <a:srgbClr val="F3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NESTUP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One map of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your neighbourhood.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700" b="0">
                <a:solidFill>
                  <a:srgbClr val="726F65"/>
                </a:solidFill>
                <a:latin typeface="Plus Jakarta Sans"/>
              </a:rPr>
              <a:t>Activities other parents are hosting. Places the city has verified. Events the municipality already runs. In one view, sorted by how close they are to you right now.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4937759"/>
            <a:ext cx="155448" cy="155448"/>
          </a:xfrm>
          <a:prstGeom prst="ellipse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48920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8"/>
                </a:solidFill>
                <a:latin typeface="Plus Jakarta Sans"/>
              </a:rPr>
              <a:t>Activities — created by parents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5358383"/>
            <a:ext cx="155448" cy="155448"/>
          </a:xfrm>
          <a:prstGeom prst="ellipse">
            <a:avLst/>
          </a:prstGeom>
          <a:solidFill>
            <a:srgbClr val="7C9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53126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8"/>
                </a:solidFill>
                <a:latin typeface="Plus Jakarta Sans"/>
              </a:rPr>
              <a:t>Places — verified, family-ready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5779007"/>
            <a:ext cx="155448" cy="155448"/>
          </a:xfrm>
          <a:prstGeom prst="ellipse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57332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8"/>
                </a:solidFill>
                <a:latin typeface="Plus Jakarta Sans"/>
              </a:rPr>
              <a:t>Events — from the 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67828" y="608075"/>
            <a:ext cx="2673460" cy="5678424"/>
          </a:xfrm>
          <a:prstGeom prst="roundRect">
            <a:avLst>
              <a:gd name="adj" fmla="val 75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_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658368"/>
            <a:ext cx="257287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WHAT'S ON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Three layers of a neighbourhood.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97480"/>
            <a:ext cx="3346704" cy="3063240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697480"/>
            <a:ext cx="3346704" cy="82296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3035808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B2B28"/>
                </a:solidFill>
                <a:latin typeface="Plus Jakarta Sans"/>
              </a:rP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3611880"/>
            <a:ext cx="268833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A parent decides to be at the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playground at ten and says so.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Others join.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6152" y="4892040"/>
            <a:ext cx="2651760" cy="12700"/>
          </a:xfrm>
          <a:prstGeom prst="rect">
            <a:avLst/>
          </a:prstGeom>
          <a:solidFill>
            <a:srgbClr val="E3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5074920"/>
            <a:ext cx="268833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767368"/>
                </a:solidFill>
                <a:latin typeface="Plus Jakarta Sans"/>
              </a:rPr>
              <a:t>21 categories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767368"/>
                </a:solidFill>
                <a:latin typeface="Plus Jakarta Sans"/>
              </a:rPr>
              <a:t>Created by residents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2697480"/>
            <a:ext cx="3346704" cy="3063240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2697480"/>
            <a:ext cx="3346704" cy="82296"/>
          </a:xfrm>
          <a:prstGeom prst="rect">
            <a:avLst/>
          </a:prstGeom>
          <a:solidFill>
            <a:srgbClr val="7C9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3035808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B2B28"/>
                </a:solidFill>
                <a:latin typeface="Plus Jakarta Sans"/>
              </a:rPr>
              <a:t>Places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611880"/>
            <a:ext cx="268833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Verified, family-ready public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space — shade, fencing, toilets,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stroller access.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4892040"/>
            <a:ext cx="2651760" cy="12700"/>
          </a:xfrm>
          <a:prstGeom prst="rect">
            <a:avLst/>
          </a:prstGeom>
          <a:solidFill>
            <a:srgbClr val="E3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5074920"/>
            <a:ext cx="268833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767368"/>
                </a:solidFill>
                <a:latin typeface="Plus Jakarta Sans"/>
              </a:rPr>
              <a:t>44 verified in Tel Aviv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767368"/>
                </a:solidFill>
                <a:latin typeface="Plus Jakarta Sans"/>
              </a:rPr>
              <a:t>Curated, not crowdsourced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2697480"/>
            <a:ext cx="3346704" cy="3063240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2697480"/>
            <a:ext cx="3346704" cy="82296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3035808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B2B28"/>
                </a:solidFill>
                <a:latin typeface="Plus Jakarta Sans"/>
              </a:rPr>
              <a:t>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3611880"/>
            <a:ext cx="268833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Story hours, workshops and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programmes the municipality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already runs.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67928" y="4892040"/>
            <a:ext cx="2651760" cy="12700"/>
          </a:xfrm>
          <a:prstGeom prst="rect">
            <a:avLst/>
          </a:prstGeom>
          <a:solidFill>
            <a:srgbClr val="E3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67928" y="5074920"/>
            <a:ext cx="268833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767368"/>
                </a:solidFill>
                <a:latin typeface="Plus Jakarta Sans"/>
              </a:rPr>
              <a:t>From municipal sources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767368"/>
                </a:solidFill>
                <a:latin typeface="Plus Jakarta Sans"/>
              </a:rPr>
              <a:t>Now with people attached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0533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95F70"/>
                </a:solidFill>
                <a:latin typeface="Plus Jakarta Sans"/>
              </a:rPr>
              <a:t>The city supplies two of these three layers already.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WHERE THE CITY ALREADY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58521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>
                <a:solidFill>
                  <a:srgbClr val="2B2B28"/>
                </a:solidFill>
                <a:latin typeface="Plus Jakarta Sans"/>
              </a:rPr>
              <a:t>A great programme</a:t>
            </a:r>
          </a:p>
          <a:p>
            <a:pPr algn="l">
              <a:lnSpc>
                <a:spcPct val="122000"/>
              </a:lnSpc>
            </a:pPr>
            <a:r>
              <a:rPr sz="3400" b="1">
                <a:solidFill>
                  <a:srgbClr val="2B2B28"/>
                </a:solidFill>
                <a:latin typeface="Plus Jakarta Sans"/>
              </a:rPr>
              <a:t>with eight people in it</a:t>
            </a:r>
          </a:p>
          <a:p>
            <a:pPr algn="l">
              <a:lnSpc>
                <a:spcPct val="122000"/>
              </a:lnSpc>
            </a:pPr>
            <a:r>
              <a:rPr sz="3400" b="1">
                <a:solidFill>
                  <a:srgbClr val="2B2B28"/>
                </a:solidFill>
                <a:latin typeface="Plus Jakarta Sans"/>
              </a:rPr>
              <a:t>is still a great programme.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700" b="0">
                <a:solidFill>
                  <a:srgbClr val="726F65"/>
                </a:solidFill>
                <a:latin typeface="Plus Jakarta Sans"/>
              </a:rPr>
              <a:t>Municipal story hours, workshops and family programmes are genuinely good. The hard part was never the programming — it's that a parent has no reason to believe anyone else will be there.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623560"/>
            <a:ext cx="5394960" cy="777240"/>
          </a:xfrm>
          <a:prstGeom prst="roundRect">
            <a:avLst>
              <a:gd name="adj" fmla="val 6000"/>
            </a:avLst>
          </a:prstGeom>
          <a:solidFill>
            <a:srgbClr val="F1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581558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96794F"/>
                </a:solidFill>
                <a:latin typeface="Plus Jakarta Sans"/>
              </a:rPr>
              <a:t>Attendance is a community problem, not a marketing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67828" y="608075"/>
            <a:ext cx="2673460" cy="5678424"/>
          </a:xfrm>
          <a:prstGeom prst="roundRect">
            <a:avLst>
              <a:gd name="adj" fmla="val 75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658368"/>
            <a:ext cx="257287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THE MECHANIC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2B2B28"/>
                </a:solidFill>
                <a:latin typeface="Plus Jakarta Sans"/>
              </a:rPr>
              <a:t>One tap turns a listing into a gathering.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A95F70"/>
                </a:solidFill>
                <a:latin typeface="Plus Jakarta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B2B28"/>
                </a:solidFill>
                <a:latin typeface="Plus Jakarta Sans"/>
              </a:rPr>
              <a:t>A city event appears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14800"/>
            <a:ext cx="225856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Pulled from municipal sources into the same map as everything else.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944368"/>
            <a:ext cx="201168" cy="12700"/>
          </a:xfrm>
          <a:prstGeom prst="rect">
            <a:avLst/>
          </a:prstGeom>
          <a:solidFill>
            <a:srgbClr val="E3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788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A95F70"/>
                </a:solidFill>
                <a:latin typeface="Plus Jakarta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00400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B2B28"/>
                </a:solidFill>
                <a:latin typeface="Plus Jakarta Sans"/>
              </a:rPr>
              <a:t>A parent says "I'm going"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114800"/>
            <a:ext cx="225856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Visible to other NestUp parents. Never sent to the organiser as a registration.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944368"/>
            <a:ext cx="201168" cy="12700"/>
          </a:xfrm>
          <a:prstGeom prst="rect">
            <a:avLst/>
          </a:prstGeom>
          <a:solidFill>
            <a:srgbClr val="E3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788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A95F70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B2B28"/>
                </a:solidFill>
                <a:latin typeface="Plus Jakarta Sans"/>
              </a:rPr>
              <a:t>Others see people, not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114800"/>
            <a:ext cx="225856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"7 NestUp parents going" — the strongest reason to attend anything.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2944368"/>
            <a:ext cx="201168" cy="12700"/>
          </a:xfrm>
          <a:prstGeom prst="rect">
            <a:avLst/>
          </a:prstGeom>
          <a:solidFill>
            <a:srgbClr val="E3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788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A95F70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200400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B2B28"/>
                </a:solidFill>
                <a:latin typeface="Plus Jakarta Sans"/>
              </a:rPr>
              <a:t>They meet in physical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114800"/>
            <a:ext cx="225856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The value lands in the park, the library, the community centre. Not in the 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715000"/>
            <a:ext cx="10424160" cy="658368"/>
          </a:xfrm>
          <a:prstGeom prst="roundRect">
            <a:avLst>
              <a:gd name="adj" fmla="val 6000"/>
            </a:avLst>
          </a:prstGeom>
          <a:solidFill>
            <a:srgbClr val="F1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58978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6B55"/>
                </a:solidFill>
                <a:latin typeface="Plus Jakarta Sans"/>
              </a:rPr>
              <a:t>Success is measured in the park, not in screen time. We are not trying to keep anyone in the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BETWEEN THE MEETUPS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Community isn't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only an 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700" b="0">
                <a:solidFill>
                  <a:srgbClr val="726F65"/>
                </a:solidFill>
                <a:latin typeface="Plus Jakarta Sans"/>
              </a:rPr>
              <a:t>Twelve curated community spaces run continuously — sleep, feeding, development, daycare, local recommendations. Always there between the meetups, in Hebrew and English.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892040"/>
            <a:ext cx="1618488" cy="402336"/>
          </a:xfrm>
          <a:prstGeom prst="roundRect">
            <a:avLst>
              <a:gd name="adj" fmla="val 6000"/>
            </a:avLst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4997196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4E5D"/>
                </a:solidFill>
                <a:latin typeface="Plus Jakarta Sans"/>
              </a:rPr>
              <a:t>Baby Sleep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3472" y="4892040"/>
            <a:ext cx="1988820" cy="402336"/>
          </a:xfrm>
          <a:prstGeom prst="roundRect">
            <a:avLst>
              <a:gd name="adj" fmla="val 6000"/>
            </a:avLst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5496" y="4997196"/>
            <a:ext cx="19888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4E5D"/>
                </a:solidFill>
                <a:latin typeface="Plus Jakarta Sans"/>
              </a:rPr>
              <a:t>Breastfeeding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422392"/>
            <a:ext cx="2606040" cy="402336"/>
          </a:xfrm>
          <a:prstGeom prst="roundRect">
            <a:avLst>
              <a:gd name="adj" fmla="val 6000"/>
            </a:avLst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552754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4E5D"/>
                </a:solidFill>
                <a:latin typeface="Plus Jakarta Sans"/>
              </a:rPr>
              <a:t>First-Time Parents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952744"/>
            <a:ext cx="2852928" cy="402336"/>
          </a:xfrm>
          <a:prstGeom prst="roundRect">
            <a:avLst>
              <a:gd name="adj" fmla="val 6000"/>
            </a:avLst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605790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4E5D"/>
                </a:solidFill>
                <a:latin typeface="Plus Jakarta Sans"/>
              </a:rPr>
              <a:t>Daycare &amp; Preschools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6483096"/>
            <a:ext cx="2976372" cy="402336"/>
          </a:xfrm>
          <a:prstGeom prst="roundRect">
            <a:avLst>
              <a:gd name="adj" fmla="val 6000"/>
            </a:avLst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6588252"/>
            <a:ext cx="29763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4E5D"/>
                </a:solidFill>
                <a:latin typeface="Plus Jakarta Sans"/>
              </a:rPr>
              <a:t>Local Recommendations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91356" y="6483096"/>
            <a:ext cx="2112264" cy="402336"/>
          </a:xfrm>
          <a:prstGeom prst="roundRect">
            <a:avLst>
              <a:gd name="adj" fmla="val 6000"/>
            </a:avLst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3380" y="6588252"/>
            <a:ext cx="21122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4E5D"/>
                </a:solidFill>
                <a:latin typeface="Plus Jakarta Sans"/>
              </a:rPr>
              <a:t>Parental Leave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67828" y="608075"/>
            <a:ext cx="2673460" cy="5678424"/>
          </a:xfrm>
          <a:prstGeom prst="roundRect">
            <a:avLst>
              <a:gd name="adj" fmla="val 75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_foru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658368"/>
            <a:ext cx="257287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Built for parents,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so built carefully.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726F65"/>
                </a:solidFill>
                <a:latin typeface="Plus Jakarta Sans"/>
              </a:rPr>
              <a:t>A public profile shows enough to feel safe meeting someone, and nothing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C9A82"/>
                </a:solidFill>
                <a:latin typeface="Plus Jakarta Sans"/>
              </a:rPr>
              <a:t>SHOWN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8"/>
                </a:solidFill>
                <a:latin typeface="Plus Jakarta Sans"/>
              </a:rPr>
              <a:t>First name and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383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8"/>
                </a:solidFill>
                <a:latin typeface="Plus Jakarta Sans"/>
              </a:rPr>
              <a:t>General area — never an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675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8"/>
                </a:solidFill>
                <a:latin typeface="Plus Jakarta Sans"/>
              </a:rPr>
              <a:t>Mom / Dad / Parent, self-selected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967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8"/>
                </a:solidFill>
                <a:latin typeface="Plus Jakarta Sans"/>
              </a:rPr>
              <a:t>Number of children, not their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4343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67368"/>
                </a:solidFill>
                <a:latin typeface="Plus Jakarta Sans"/>
              </a:rPr>
              <a:t>NEVER SHOWN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7091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368"/>
                </a:solidFill>
                <a:latin typeface="Plus Jakarta Sans"/>
              </a:rPr>
              <a:t>Phone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50383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368"/>
                </a:solidFill>
                <a:latin typeface="Plus Jakarta Sans"/>
              </a:rPr>
              <a:t>Email 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53675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368"/>
                </a:solidFill>
                <a:latin typeface="Plus Jakarta Sans"/>
              </a:rPr>
              <a:t>Home address or coordinates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56967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368"/>
                </a:solidFill>
                <a:latin typeface="Plus Jakarta Sans"/>
              </a:rPr>
              <a:t>Children's birthdates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67828" y="608075"/>
            <a:ext cx="2673460" cy="5678424"/>
          </a:xfrm>
          <a:prstGeom prst="roundRect">
            <a:avLst>
              <a:gd name="adj" fmla="val 75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658368"/>
            <a:ext cx="257287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3B6C2"/>
                </a:solidFill>
                <a:latin typeface="Plus Jakarta Sans"/>
              </a:rPr>
              <a:t>THE MUNICIPAL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AF8F4"/>
                </a:solidFill>
                <a:latin typeface="Plus Jakarta Sans"/>
              </a:rPr>
              <a:t>Four things a city gets.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9748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697480"/>
            <a:ext cx="2487168" cy="64008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301752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AF8F4"/>
                </a:solidFill>
                <a:latin typeface="Plus Jakarta Sans"/>
              </a:rPr>
              <a:t>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584448"/>
            <a:ext cx="19385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A8A69C"/>
                </a:solidFill>
                <a:latin typeface="Plus Jakarta Sans"/>
              </a:rPr>
              <a:t>Parental isolation is a wellbeing issue the city already cares about — and one it currently has no instrument for.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69748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2697480"/>
            <a:ext cx="2487168" cy="64008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301752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AF8F4"/>
                </a:solidFill>
                <a:latin typeface="Plus Jakarta Sans"/>
              </a:rPr>
              <a:t>Utilisation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8" y="3584448"/>
            <a:ext cx="19385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A8A69C"/>
                </a:solidFill>
                <a:latin typeface="Plus Jakarta Sans"/>
              </a:rPr>
              <a:t>Better attendance at programmes and public spaces the city has already paid to build and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9748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697480"/>
            <a:ext cx="2487168" cy="64008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301752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AF8F4"/>
                </a:solidFill>
                <a:latin typeface="Plus Jakarta Sans"/>
              </a:rPr>
              <a:t>Belonging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3584448"/>
            <a:ext cx="19385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A8A69C"/>
                </a:solidFill>
                <a:latin typeface="Plus Jakarta Sans"/>
              </a:rPr>
              <a:t>Residents who know their neighbours stay longer, participate more, and ask more of their neighbourhood.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69748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2697480"/>
            <a:ext cx="2487168" cy="64008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301752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AF8F4"/>
                </a:solidFill>
                <a:latin typeface="Plus Jakarta Sans"/>
              </a:rPr>
              <a:t>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3584448"/>
            <a:ext cx="19385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A8A69C"/>
                </a:solidFill>
                <a:latin typeface="Plus Jakarta Sans"/>
              </a:rPr>
              <a:t>Anonymised, aggregated signal about where families actually gather — and where provision is thin.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3B6C2"/>
                </a:solidFill>
                <a:latin typeface="Plus Jakarta Sans"/>
              </a:rPr>
              <a:t>None of these require the city to build or maintain software.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A layer, not a replacement.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9748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1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697480"/>
            <a:ext cx="82296" cy="914400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8803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B2B28"/>
                </a:solidFill>
                <a:latin typeface="Plus Jakarta Sans"/>
              </a:rPr>
              <a:t>The city provides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3227832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Public space  ·  Verified places  ·  Family programmes  ·  Events calendar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6118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767368"/>
                </a:solidFill>
                <a:latin typeface="Plus Jakarta San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813048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813048"/>
            <a:ext cx="82296" cy="914400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9959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B2B28"/>
                </a:solidFill>
                <a:latin typeface="Plus Jakarta Sans"/>
              </a:rPr>
              <a:t>NestUp provides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34340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Discovery  ·  Attendance  ·  Community  ·  Local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72744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767368"/>
                </a:solidFill>
                <a:latin typeface="Plus Jakarta San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928616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1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928616"/>
            <a:ext cx="82296" cy="914400"/>
          </a:xfrm>
          <a:prstGeom prst="rect">
            <a:avLst/>
          </a:prstGeom>
          <a:solidFill>
            <a:srgbClr val="7C9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51114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B2B28"/>
                </a:solidFill>
                <a:latin typeface="Plus Jakarta Sans"/>
              </a:rPr>
              <a:t>Families 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5458968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Somewhere to go  ·  Someone to go with  ·  A neighbourhood that feels known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1722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A95F70"/>
                </a:solidFill>
                <a:latin typeface="Plus Jakarta Sans"/>
              </a:rPr>
              <a:t>No procurement of software. No integration burden. No new system for staff to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One neighbourhood. Six months.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97480"/>
            <a:ext cx="2487168" cy="2651760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697480"/>
            <a:ext cx="2487168" cy="64008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992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64992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B2B28"/>
                </a:solidFill>
                <a:latin typeface="Plus Jakarta San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86200"/>
            <a:ext cx="193852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Choose one neighbourhood. Agree success measures and capture a starting baseline with the city's own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697480"/>
            <a:ext cx="2487168" cy="2651760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697480"/>
            <a:ext cx="2487168" cy="64008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9992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MONTHS 2–3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364992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B2B28"/>
                </a:solidFill>
                <a:latin typeface="Plus Jakarta Sans"/>
              </a:rPr>
              <a:t>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886200"/>
            <a:ext cx="193852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Onboard families through existing municipal touchpoints — tipot chalav, libraries, community centres.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697480"/>
            <a:ext cx="2487168" cy="2651760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697480"/>
            <a:ext cx="2487168" cy="64008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9992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MONTHS 4–5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64992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B2B28"/>
                </a:solidFill>
                <a:latin typeface="Plus Jakarta Sans"/>
              </a:rPr>
              <a:t>Grow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886200"/>
            <a:ext cx="193852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Municipal events flow into the product. Parents host their own activities. Forums find their rhythm.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697480"/>
            <a:ext cx="2487168" cy="2651760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97480"/>
            <a:ext cx="2487168" cy="64008"/>
          </a:xfrm>
          <a:prstGeom prst="rect">
            <a:avLst/>
          </a:prstGeom>
          <a:solidFill>
            <a:srgbClr val="7C9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9992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MONTH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364992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B2B28"/>
                </a:solidFill>
                <a:latin typeface="Plus Jakarta Sans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886200"/>
            <a:ext cx="193852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Joint review against the agreed measures. Decide together whether to extend, expand or stop.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B2B28"/>
                </a:solidFill>
                <a:latin typeface="Plus Jakarta Sans"/>
              </a:rPr>
              <a:t>One neighbourhood is deliberate. A pilot that can't fail teaches nothing.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How we'll know if it worked.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51760"/>
            <a:ext cx="10424160" cy="457200"/>
          </a:xfrm>
          <a:prstGeom prst="roundRect">
            <a:avLst>
              <a:gd name="adj" fmla="val 60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2770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AF8F4"/>
                </a:solidFill>
                <a:latin typeface="Plus Jakarta Sans"/>
              </a:rP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770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AF8F4"/>
                </a:solidFill>
                <a:latin typeface="Plus Jakarta San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70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AF8F4"/>
                </a:solidFill>
                <a:latin typeface="Plus Jakarta Sans"/>
              </a:rPr>
              <a:t>STARTING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108960"/>
            <a:ext cx="10424160" cy="566928"/>
          </a:xfrm>
          <a:prstGeom prst="rect">
            <a:avLst/>
          </a:prstGeom>
          <a:solidFill>
            <a:srgbClr val="FEF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32644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B2B28"/>
                </a:solidFill>
                <a:latin typeface="Plus Jakarta Sans"/>
              </a:rPr>
              <a:t>Attendance at municipal family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644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City's own attendance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644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Baseline set in month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831335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B2B28"/>
                </a:solidFill>
                <a:latin typeface="Plus Jakarta Sans"/>
              </a:rPr>
              <a:t>Parent-initiated gatherings 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831335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In-product, reported monthly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31335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Zero at start, by definition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242816"/>
            <a:ext cx="10424160" cy="566928"/>
          </a:xfrm>
          <a:prstGeom prst="rect">
            <a:avLst/>
          </a:prstGeom>
          <a:solidFill>
            <a:srgbClr val="FEF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39826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B2B28"/>
                </a:solidFill>
                <a:latin typeface="Plus Jakarta Sans"/>
              </a:rPr>
              <a:t>Repeat participation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39826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Share of parents attending more than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39826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Baseline set in month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9651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B2B28"/>
                </a:solidFill>
                <a:latin typeface="Plus Jakarta Sans"/>
              </a:rPr>
              <a:t>Self-reported local connection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9651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Short survey at month 1 and month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9651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Baseline set in month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376672"/>
            <a:ext cx="10424160" cy="566928"/>
          </a:xfrm>
          <a:prstGeom prst="rect">
            <a:avLst/>
          </a:prstGeom>
          <a:solidFill>
            <a:srgbClr val="FEF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19" y="55321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B2B28"/>
                </a:solidFill>
                <a:latin typeface="Plus Jakarta Sans"/>
              </a:rPr>
              <a:t>Reach into underserved 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5321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Distribution of activity across the neighbourhood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5321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26F65"/>
                </a:solidFill>
                <a:latin typeface="Plus Jakarta Sans"/>
              </a:rPr>
              <a:t>Mapped in month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6053328"/>
            <a:ext cx="10424160" cy="475488"/>
          </a:xfrm>
          <a:prstGeom prst="roundRect">
            <a:avLst>
              <a:gd name="adj" fmla="val 6000"/>
            </a:avLst>
          </a:prstGeom>
          <a:solidFill>
            <a:srgbClr val="F1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19" y="6181344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96794F"/>
                </a:solidFill>
                <a:latin typeface="Plus Jakarta Sans"/>
              </a:rPr>
              <a:t>We deliberately have no numbers to show you yet. Every baseline is set with the city, in month 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WHY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9601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FFFFFF"/>
                </a:solidFill>
                <a:latin typeface="Plus Jakarta Sans"/>
              </a:rPr>
              <a:t>Why Tel Aviv should be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3B6C2"/>
                </a:solidFill>
                <a:latin typeface="Plus Jakarta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Density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225856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F8DEE3"/>
                </a:solidFill>
                <a:latin typeface="Plus Jakarta Sans"/>
              </a:rPr>
              <a:t>Neighbourhoods dense enough that a 500-metre radius contains a real community.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0632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3B6C2"/>
                </a:solidFill>
                <a:latin typeface="Plus Jakarta Sa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42900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Provision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977639"/>
            <a:ext cx="225856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F8DEE3"/>
                </a:solidFill>
                <a:latin typeface="Plus Jakarta Sans"/>
              </a:rPr>
              <a:t>The public space and family programming already exist and are genuinely good.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0632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3B6C2"/>
                </a:solidFill>
                <a:latin typeface="Plus Jakarta Sa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42900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Appetite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977639"/>
            <a:ext cx="225856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F8DEE3"/>
                </a:solidFill>
                <a:latin typeface="Plus Jakarta Sans"/>
              </a:rPr>
              <a:t>A municipality with a track record of testing new things before anyone else.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0632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3B6C2"/>
                </a:solidFill>
                <a:latin typeface="Plus Jakarta San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42900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977639"/>
            <a:ext cx="225856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F8DEE3"/>
                </a:solidFill>
                <a:latin typeface="Plus Jakarta Sans"/>
              </a:rPr>
              <a:t>The product is live, in Hebrew and English, with 44 Tel Aviv places already verified.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The first city to do this gets to shape what it becomes.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5F70"/>
                </a:solidFill>
                <a:latin typeface="Plus Jakarta Sans"/>
              </a:rP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B2B28"/>
                </a:solidFill>
                <a:latin typeface="Plus Jakarta Sans"/>
              </a:rPr>
              <a:t>Four things. None of them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697480"/>
            <a:ext cx="10424160" cy="749808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52728" y="2916936"/>
            <a:ext cx="310896" cy="310896"/>
          </a:xfrm>
          <a:prstGeom prst="ellipse">
            <a:avLst/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96265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8B4E5D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4378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B2B28"/>
                </a:solidFill>
                <a:latin typeface="Plus Jakarta Sans"/>
              </a:rPr>
              <a:t>A neighbourhood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871216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One area, chosen with you, to run the pilot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593592"/>
            <a:ext cx="10424160" cy="749808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3813048"/>
            <a:ext cx="310896" cy="310896"/>
          </a:xfrm>
          <a:prstGeom prst="ellipse">
            <a:avLst/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85876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8B4E5D"/>
                </a:solidFill>
                <a:latin typeface="Plus Jakarta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3989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B2B28"/>
                </a:solidFill>
                <a:latin typeface="Plus Jakarta Sans"/>
              </a:rPr>
              <a:t>Introductions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767328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Access to existing family touchpoints — tipot chalav, libraries, community centres.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89704"/>
            <a:ext cx="10424160" cy="749808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52728" y="4709160"/>
            <a:ext cx="310896" cy="310896"/>
          </a:xfrm>
          <a:prstGeom prst="ellipse">
            <a:avLst/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75488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8B4E5D"/>
                </a:solidFill>
                <a:latin typeface="Plus Jakarta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360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B2B28"/>
                </a:solidFill>
                <a:latin typeface="Plus Jakarta Sans"/>
              </a:rPr>
              <a:t>Event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663440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The family-facing events you already publish, so they appear where parents are looking.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385816"/>
            <a:ext cx="10424160" cy="749808"/>
          </a:xfrm>
          <a:prstGeom prst="roundRect">
            <a:avLst>
              <a:gd name="adj" fmla="val 6000"/>
            </a:avLst>
          </a:prstGeom>
          <a:solidFill>
            <a:srgbClr val="FEFDFB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52728" y="5605272"/>
            <a:ext cx="310896" cy="310896"/>
          </a:xfrm>
          <a:prstGeom prst="ellipse">
            <a:avLst/>
          </a:prstGeom>
          <a:solidFill>
            <a:srgbClr val="F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2728" y="5650992"/>
            <a:ext cx="310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8B4E5D"/>
                </a:solidFill>
                <a:latin typeface="Plus Jakarta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532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B2B28"/>
                </a:solidFill>
                <a:latin typeface="Plus Jakarta Sans"/>
              </a:rPr>
              <a:t>A 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5559552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26F65"/>
                </a:solidFill>
                <a:latin typeface="Plus Jakarta Sans"/>
              </a:rPr>
              <a:t>One person inside the municipality who owns this with us for six months.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355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95F70"/>
                </a:solidFill>
                <a:latin typeface="Plus Jakarta Sans"/>
              </a:rPr>
              <a:t>We bring the product, the team and the cost.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4200" b="1">
                <a:solidFill>
                  <a:srgbClr val="FAF8F4"/>
                </a:solidFill>
                <a:latin typeface="Plus Jakarta Sans"/>
              </a:rPr>
              <a:t>Cities are built</a:t>
            </a:r>
          </a:p>
          <a:p>
            <a:pPr algn="l">
              <a:lnSpc>
                <a:spcPct val="124000"/>
              </a:lnSpc>
            </a:pPr>
            <a:r>
              <a:rPr sz="4200" b="1">
                <a:solidFill>
                  <a:srgbClr val="FAF8F4"/>
                </a:solidFill>
                <a:latin typeface="Plus Jakarta Sans"/>
              </a:rPr>
              <a:t>from buildings.</a:t>
            </a:r>
          </a:p>
          <a:p>
            <a:pPr algn="l">
              <a:lnSpc>
                <a:spcPct val="124000"/>
              </a:lnSpc>
            </a:pPr>
            <a:r>
              <a:rPr sz="4200" b="1">
                <a:solidFill>
                  <a:srgbClr val="FAF8F4"/>
                </a:solidFill>
                <a:latin typeface="Plus Jakarta Sans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4200" b="1">
                <a:solidFill>
                  <a:srgbClr val="FAF8F4"/>
                </a:solidFill>
                <a:latin typeface="Plus Jakarta Sans"/>
              </a:rPr>
              <a:t>Communities are built</a:t>
            </a:r>
          </a:p>
          <a:p>
            <a:pPr algn="l">
              <a:lnSpc>
                <a:spcPct val="124000"/>
              </a:lnSpc>
            </a:pPr>
            <a:r>
              <a:rPr sz="4200" b="1">
                <a:solidFill>
                  <a:srgbClr val="FAF8F4"/>
                </a:solidFill>
                <a:latin typeface="Plus Jakarta Sans"/>
              </a:rPr>
              <a:t>from Tuesday mornings.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5760720"/>
            <a:ext cx="2743200" cy="12700"/>
          </a:xfrm>
          <a:prstGeom prst="rect">
            <a:avLst/>
          </a:prstGeom>
          <a:solidFill>
            <a:srgbClr val="A9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8A69C"/>
                </a:solidFill>
                <a:latin typeface="Plus Jakarta Sans"/>
              </a:rPr>
              <a:t>NestUp  ·  nestup.app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